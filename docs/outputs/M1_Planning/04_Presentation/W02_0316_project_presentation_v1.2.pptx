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anum Square Bold" charset="1" panose="020B0600000101010101"/>
      <p:regular r:id="rId16"/>
    </p:embeddedFont>
    <p:embeddedFont>
      <p:font typeface="Nanum Square" charset="1" panose="020B0600000101010101"/>
      <p:regular r:id="rId17"/>
    </p:embeddedFont>
    <p:embeddedFont>
      <p:font typeface="Nanum Square Light" charset="1" panose="020B0600000101010101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2970" y="3263856"/>
            <a:ext cx="16270731" cy="3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8"/>
              </a:lnSpc>
            </a:pPr>
            <a:r>
              <a:rPr lang="en-US" sz="9200" spc="-46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On-Device AI 기반 공공 민원 </a:t>
            </a:r>
          </a:p>
          <a:p>
            <a:pPr algn="l">
              <a:lnSpc>
                <a:spcPts val="9568"/>
              </a:lnSpc>
            </a:pPr>
            <a:r>
              <a:rPr lang="en-US" sz="9200" spc="-460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자동 분류 및 분석 처리 시스템</a:t>
            </a:r>
          </a:p>
          <a:p>
            <a:pPr algn="l">
              <a:lnSpc>
                <a:spcPts val="1112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78601" y="484618"/>
            <a:ext cx="2508737" cy="1088165"/>
          </a:xfrm>
          <a:custGeom>
            <a:avLst/>
            <a:gdLst/>
            <a:ahLst/>
            <a:cxnLst/>
            <a:rect r="r" b="b" t="t" l="l"/>
            <a:pathLst>
              <a:path h="1088165" w="2508737">
                <a:moveTo>
                  <a:pt x="0" y="0"/>
                </a:moveTo>
                <a:lnTo>
                  <a:pt x="2508738" y="0"/>
                </a:lnTo>
                <a:lnTo>
                  <a:pt x="2508738" y="1088164"/>
                </a:lnTo>
                <a:lnTo>
                  <a:pt x="0" y="1088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191479" y="8164198"/>
            <a:ext cx="0" cy="10942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131040" y="8176925"/>
            <a:ext cx="6216126" cy="5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800" spc="-19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Team. GovOn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41702" y="8088182"/>
            <a:ext cx="2717598" cy="117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178" b="true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1705817 엄윤상 </a:t>
            </a:r>
          </a:p>
          <a:p>
            <a:pPr algn="l">
              <a:lnSpc>
                <a:spcPts val="3082"/>
              </a:lnSpc>
            </a:pPr>
            <a:r>
              <a:rPr lang="en-US" sz="20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2143655   장시우</a:t>
            </a:r>
          </a:p>
          <a:p>
            <a:pPr algn="l">
              <a:lnSpc>
                <a:spcPts val="3082"/>
              </a:lnSpc>
            </a:pPr>
            <a:r>
              <a:rPr lang="en-US" sz="206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2243951   이유정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2970" y="2559387"/>
            <a:ext cx="10795405" cy="599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4200" spc="-21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실증적AI개발프로젝트Ⅰ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21468" y="3030661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제안주제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28555" y="3847018"/>
            <a:ext cx="6628327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On-Device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AI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민원 분석 및 처리 시스템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01.  문제정의서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0993" y="4704352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멘토교수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38080" y="5520709"/>
            <a:ext cx="6628327" cy="43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전동산 교수님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1468" y="6527597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필요기술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8555" y="7343955"/>
            <a:ext cx="13108561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HuggingFace, vLLM, FAISS, ONNX, AWQ, Quantization, open source llm finetuning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  <a:p>
            <a:pPr algn="l">
              <a:lnSpc>
                <a:spcPts val="345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21468" y="3030661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기존 방식의 한계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28555" y="4083830"/>
            <a:ext cx="662832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단순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키워드 기반 분류나 수작업 검색만으로는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표현이 조금만 달라져도 같은 유형의 민원을 놓치거나,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적절한 유사 사례를 찾지 못함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01.  문제정의서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개발 배경 및 필요성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030661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환경의 변화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8555" y="5675902"/>
            <a:ext cx="6372570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개인정보가 포함된 민원데이터에는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외부 클라우드 기반 AI서비스를 그대로 활용하기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어려워 민원 처리시간이 증가함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636308" y="4083830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공공업무에서도 반복 행정 업무를 줄이고 응답 품질을 높이기 위한 AI 도입 수요가 커지고 있음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46213" y="5675902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2. 정부에서 AI 도입을 가속화하기 위한 다수의 국가들의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노력하고 있음을 확인함.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756434" y="7344174"/>
            <a:ext cx="637257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3. 민원 데이터에는 개인정보가 포함될 수 있어 답변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품질이 담당자의 경험과 숙련도에 따라 달라질 수 있음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2044627" y="-1166493"/>
            <a:ext cx="22091504" cy="12619986"/>
          </a:xfrm>
          <a:custGeom>
            <a:avLst/>
            <a:gdLst/>
            <a:ahLst/>
            <a:cxnLst/>
            <a:rect r="r" b="b" t="t" l="l"/>
            <a:pathLst>
              <a:path h="12619986" w="22091504">
                <a:moveTo>
                  <a:pt x="0" y="0"/>
                </a:moveTo>
                <a:lnTo>
                  <a:pt x="22091504" y="0"/>
                </a:lnTo>
                <a:lnTo>
                  <a:pt x="22091504" y="12619986"/>
                </a:lnTo>
                <a:lnTo>
                  <a:pt x="0" y="12619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9973" r="-1423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1468" y="3030661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기존 방식의 한계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8555" y="4083830"/>
            <a:ext cx="662832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단순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키워드 기반 분류나 수작업 검색만으로는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표현이 조금만 달라져도 같은 유형의 민원을 놓치거나,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적절한 유사 사례를 찾지 못함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01.  문제정의서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개발 배경 및 필요성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030661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환경의 변화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8555" y="5675902"/>
            <a:ext cx="6372570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개인정보가 포함된 민원데이터에는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외부 클라우드 기반 AI서비스를 그대로 활용하기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  어려워 민원 처리시간이 증가함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36308" y="4083830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453"/>
              </a:lnSpc>
              <a:buAutoNum type="arabicPeriod" startAt="1"/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공공업무에서도 반복 행정 업무를 줄이고 응답 품질을 높이기 위한 AI 도입 수요가 커지고 있음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46213" y="5675902"/>
            <a:ext cx="662832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2. 정부에서 AI 도입을 가속화하기 위한 다수의 국가들의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노력하고 있음을 확인함.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756434" y="7344174"/>
            <a:ext cx="637257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3. 민원 데이터에는 개인정보가 포함될 수 있어 답변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품질이 담당자의 경험과 숙련도에 따라 달라질 수 있음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70419" y="2989944"/>
            <a:ext cx="5544599" cy="347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업무효율 개선 </a:t>
            </a:r>
          </a:p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정확한 분류</a:t>
            </a:r>
          </a:p>
          <a:p>
            <a:pPr algn="l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표준화된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답변 </a:t>
            </a:r>
          </a:p>
          <a:p>
            <a:pPr algn="l">
              <a:lnSpc>
                <a:spcPts val="6907"/>
              </a:lnSpc>
              <a:spcBef>
                <a:spcPct val="0"/>
              </a:spcBef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-  개인정보보호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58407" y="3875769"/>
            <a:ext cx="6796089" cy="260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7"/>
              </a:lnSpc>
            </a:pPr>
            <a:r>
              <a:rPr lang="en-US" b="true" sz="4399" spc="-87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폐쇄망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기반 </a:t>
            </a:r>
          </a:p>
          <a:p>
            <a:pPr algn="ctr">
              <a:lnSpc>
                <a:spcPts val="6907"/>
              </a:lnSpc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문맥을 이해하는 </a:t>
            </a:r>
            <a:r>
              <a:rPr lang="en-US" b="true" sz="4399" spc="-87">
                <a:solidFill>
                  <a:srgbClr val="FFFFF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AI</a:t>
            </a: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도입</a:t>
            </a:r>
          </a:p>
          <a:p>
            <a:pPr algn="ctr">
              <a:lnSpc>
                <a:spcPts val="6907"/>
              </a:lnSpc>
              <a:spcBef>
                <a:spcPct val="0"/>
              </a:spcBef>
            </a:pPr>
            <a:r>
              <a:rPr lang="en-US" sz="4399" spc="-87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32817" y="3545284"/>
            <a:ext cx="1257282" cy="2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61"/>
              </a:lnSpc>
              <a:spcBef>
                <a:spcPct val="0"/>
              </a:spcBef>
            </a:pPr>
            <a:r>
              <a:rPr lang="en-US" sz="11122" spc="-222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33504" y="2619112"/>
            <a:ext cx="14569652" cy="688111"/>
            <a:chOff x="0" y="0"/>
            <a:chExt cx="2856620" cy="1349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3504" y="2619112"/>
            <a:ext cx="688111" cy="688111"/>
            <a:chOff x="0" y="0"/>
            <a:chExt cx="134916" cy="1349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176388" y="2678449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데이터 확보 및 학습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2396" y="2678449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62396" y="4821148"/>
            <a:ext cx="14569652" cy="688111"/>
            <a:chOff x="0" y="0"/>
            <a:chExt cx="2856620" cy="1349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396" y="4821148"/>
            <a:ext cx="688111" cy="688111"/>
            <a:chOff x="0" y="0"/>
            <a:chExt cx="134916" cy="1349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05280" y="4880486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표준 답변 생성 엔진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1287" y="4880486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02. 개발요구사항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91287" y="7006081"/>
            <a:ext cx="14569652" cy="688111"/>
            <a:chOff x="0" y="0"/>
            <a:chExt cx="2856620" cy="1349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1287" y="7006081"/>
            <a:ext cx="688111" cy="688111"/>
            <a:chOff x="0" y="0"/>
            <a:chExt cx="134916" cy="1349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234172" y="7065419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고성능 on-premises serving 최적화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0179" y="7065419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91287" y="7817025"/>
            <a:ext cx="14569652" cy="688111"/>
            <a:chOff x="0" y="0"/>
            <a:chExt cx="2856620" cy="1349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6620" cy="134916"/>
            </a:xfrm>
            <a:custGeom>
              <a:avLst/>
              <a:gdLst/>
              <a:ahLst/>
              <a:cxnLst/>
              <a:rect r="r" b="b" t="t" l="l"/>
              <a:pathLst>
                <a:path h="134916" w="2856620">
                  <a:moveTo>
                    <a:pt x="0" y="0"/>
                  </a:moveTo>
                  <a:lnTo>
                    <a:pt x="2856620" y="0"/>
                  </a:lnTo>
                  <a:lnTo>
                    <a:pt x="2856620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856620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1287" y="7817025"/>
            <a:ext cx="688111" cy="688111"/>
            <a:chOff x="0" y="0"/>
            <a:chExt cx="134916" cy="1349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916" cy="134916"/>
            </a:xfrm>
            <a:custGeom>
              <a:avLst/>
              <a:gdLst/>
              <a:ahLst/>
              <a:cxnLst/>
              <a:rect r="r" b="b" t="t" l="l"/>
              <a:pathLst>
                <a:path h="134916" w="134916">
                  <a:moveTo>
                    <a:pt x="0" y="0"/>
                  </a:moveTo>
                  <a:lnTo>
                    <a:pt x="134916" y="0"/>
                  </a:lnTo>
                  <a:lnTo>
                    <a:pt x="134916" y="134916"/>
                  </a:lnTo>
                  <a:lnTo>
                    <a:pt x="0" y="13491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34916" cy="19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234172" y="7876363"/>
            <a:ext cx="10084219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2427" spc="-48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사용자 친화적 UI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0179" y="7876363"/>
            <a:ext cx="630328" cy="464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2427" spc="-48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3504" y="3496769"/>
            <a:ext cx="14540760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공공기관의 공개 데이터를 수집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수집된 데이터를 기반으로  오픈소스 sLLM(Gemma 2, Llama 3 등)에 대한 지도 미세 조정(SFT, Supervised Fine-tuning) 실시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20179" y="5766434"/>
            <a:ext cx="14540760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답변 표준 서식을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시스템 프롬프트로 설계하여 일관된 톤앤매너 유지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요지 입력 시, 학습된 데이터를 바탕으로 즉시 고품질의 답변 초안을 생성하는 기능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33504" y="1119497"/>
            <a:ext cx="713218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03. 프로젝트 목표 및 진행내용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62988" y="2113271"/>
            <a:ext cx="5318483" cy="57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b="true" sz="3199" spc="-9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  프로젝트 목표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9474" y="2795702"/>
            <a:ext cx="11146712" cy="86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on-premises 환경에서 동작하는 한국어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특화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LLM 기반 민원 처리 지원 시스템을 구축하는 것</a:t>
            </a:r>
          </a:p>
          <a:p>
            <a:pPr algn="l">
              <a:lnSpc>
                <a:spcPts val="345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33504" y="3997249"/>
            <a:ext cx="3992311" cy="2027701"/>
            <a:chOff x="0" y="0"/>
            <a:chExt cx="5323081" cy="27036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263248" cy="2703601"/>
              <a:chOff x="0" y="0"/>
              <a:chExt cx="760815" cy="48248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60815" cy="482482"/>
              </a:xfrm>
              <a:custGeom>
                <a:avLst/>
                <a:gdLst/>
                <a:ahLst/>
                <a:cxnLst/>
                <a:rect r="r" b="b" t="t" l="l"/>
                <a:pathLst>
                  <a:path h="482482" w="760815">
                    <a:moveTo>
                      <a:pt x="0" y="0"/>
                    </a:moveTo>
                    <a:lnTo>
                      <a:pt x="760815" y="0"/>
                    </a:lnTo>
                    <a:lnTo>
                      <a:pt x="760815" y="482482"/>
                    </a:lnTo>
                    <a:lnTo>
                      <a:pt x="0" y="482482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60815" cy="5205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5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4463103" y="981606"/>
              <a:ext cx="859978" cy="564458"/>
            </a:xfrm>
            <a:custGeom>
              <a:avLst/>
              <a:gdLst/>
              <a:ahLst/>
              <a:cxnLst/>
              <a:rect r="r" b="b" t="t" l="l"/>
              <a:pathLst>
                <a:path h="564458" w="859978">
                  <a:moveTo>
                    <a:pt x="0" y="0"/>
                  </a:moveTo>
                  <a:lnTo>
                    <a:pt x="859978" y="0"/>
                  </a:lnTo>
                  <a:lnTo>
                    <a:pt x="859978" y="564458"/>
                  </a:lnTo>
                  <a:lnTo>
                    <a:pt x="0" y="564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77548" y="1036631"/>
              <a:ext cx="3508153" cy="1471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39"/>
                </a:lnSpc>
              </a:pPr>
              <a:r>
                <a:rPr lang="en-US" sz="2099" spc="-4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데이터</a:t>
              </a:r>
              <a:r>
                <a:rPr lang="en-US" sz="2099" spc="-4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수집 / 전처리한 민원데이터 확보</a:t>
              </a:r>
            </a:p>
            <a:p>
              <a:pPr algn="just">
                <a:lnSpc>
                  <a:spcPts val="2939"/>
                </a:lnSpc>
              </a:pP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377548" y="381852"/>
              <a:ext cx="521428" cy="521428"/>
              <a:chOff x="0" y="0"/>
              <a:chExt cx="93054" cy="9305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3054" cy="93054"/>
              </a:xfrm>
              <a:custGeom>
                <a:avLst/>
                <a:gdLst/>
                <a:ahLst/>
                <a:cxnLst/>
                <a:rect r="r" b="b" t="t" l="l"/>
                <a:pathLst>
                  <a:path h="93054" w="93054">
                    <a:moveTo>
                      <a:pt x="0" y="0"/>
                    </a:moveTo>
                    <a:lnTo>
                      <a:pt x="93054" y="0"/>
                    </a:lnTo>
                    <a:lnTo>
                      <a:pt x="93054" y="93054"/>
                    </a:lnTo>
                    <a:lnTo>
                      <a:pt x="0" y="9305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3054" cy="1311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5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58748" y="357578"/>
              <a:ext cx="359028" cy="4937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9"/>
                </a:lnSpc>
              </a:pPr>
              <a:r>
                <a:rPr lang="en-US" sz="2100" spc="-63">
                  <a:solidFill>
                    <a:srgbClr val="FFFFFF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51416" y="6350312"/>
            <a:ext cx="3197436" cy="2027701"/>
            <a:chOff x="0" y="0"/>
            <a:chExt cx="760815" cy="4824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798743" y="708651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734576" y="7113497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FAISS 기반 유사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민원 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검색 시스템 구축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734576" y="6636701"/>
            <a:ext cx="391071" cy="391071"/>
            <a:chOff x="0" y="0"/>
            <a:chExt cx="93054" cy="930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854061" y="6599445"/>
            <a:ext cx="152102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451416" y="3997249"/>
            <a:ext cx="3197436" cy="2027701"/>
            <a:chOff x="0" y="0"/>
            <a:chExt cx="760815" cy="48248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798743" y="4733453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734576" y="4760434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특화 AI 모델 학습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LLM 파인튜닝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734576" y="4283638"/>
            <a:ext cx="391071" cy="391071"/>
            <a:chOff x="0" y="0"/>
            <a:chExt cx="93054" cy="930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795477" y="4246383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2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659802" y="6350312"/>
            <a:ext cx="3197436" cy="2027701"/>
            <a:chOff x="0" y="0"/>
            <a:chExt cx="760815" cy="4824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857060" y="6350312"/>
            <a:ext cx="3197436" cy="2027701"/>
            <a:chOff x="0" y="0"/>
            <a:chExt cx="760815" cy="48248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3007130" y="708651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9942963" y="7113497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표준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답변 생성 엔진,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서비스 연동 기능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구현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140221" y="7086827"/>
            <a:ext cx="2631115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vLLM 기반 서빙 환경 구성 및 폐쇄망 환경 배포,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UI 구현</a:t>
            </a:r>
          </a:p>
          <a:p>
            <a:pPr algn="just">
              <a:lnSpc>
                <a:spcPts val="2939"/>
              </a:lnSpc>
            </a:pPr>
          </a:p>
        </p:txBody>
      </p:sp>
      <p:grpSp>
        <p:nvGrpSpPr>
          <p:cNvPr name="Group 44" id="44"/>
          <p:cNvGrpSpPr/>
          <p:nvPr/>
        </p:nvGrpSpPr>
        <p:grpSpPr>
          <a:xfrm rot="0">
            <a:off x="9942963" y="6636701"/>
            <a:ext cx="391071" cy="391071"/>
            <a:chOff x="0" y="0"/>
            <a:chExt cx="93054" cy="930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140221" y="6636701"/>
            <a:ext cx="391071" cy="391071"/>
            <a:chOff x="0" y="0"/>
            <a:chExt cx="93054" cy="930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003863" y="6599445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01121" y="6599445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6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672326" y="3997249"/>
            <a:ext cx="3197436" cy="2027701"/>
            <a:chOff x="0" y="0"/>
            <a:chExt cx="760815" cy="4824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0815" cy="482482"/>
            </a:xfrm>
            <a:custGeom>
              <a:avLst/>
              <a:gdLst/>
              <a:ahLst/>
              <a:cxnLst/>
              <a:rect r="r" b="b" t="t" l="l"/>
              <a:pathLst>
                <a:path h="482482" w="760815">
                  <a:moveTo>
                    <a:pt x="0" y="0"/>
                  </a:moveTo>
                  <a:lnTo>
                    <a:pt x="760815" y="0"/>
                  </a:lnTo>
                  <a:lnTo>
                    <a:pt x="760815" y="482482"/>
                  </a:lnTo>
                  <a:lnTo>
                    <a:pt x="0" y="48248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760815" cy="53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55487" y="4760434"/>
            <a:ext cx="263111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유사</a:t>
            </a: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민원 검색 시스템 </a:t>
            </a:r>
          </a:p>
          <a:p>
            <a:pPr algn="just">
              <a:lnSpc>
                <a:spcPts val="2939"/>
              </a:lnSpc>
            </a:pPr>
            <a:r>
              <a:rPr lang="en-US" sz="2099" spc="-4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구축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55487" y="4283638"/>
            <a:ext cx="391071" cy="391071"/>
            <a:chOff x="0" y="0"/>
            <a:chExt cx="93054" cy="9305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054" cy="93054"/>
            </a:xfrm>
            <a:custGeom>
              <a:avLst/>
              <a:gdLst/>
              <a:ahLst/>
              <a:cxnLst/>
              <a:rect r="r" b="b" t="t" l="l"/>
              <a:pathLst>
                <a:path h="93054" w="93054">
                  <a:moveTo>
                    <a:pt x="0" y="0"/>
                  </a:moveTo>
                  <a:lnTo>
                    <a:pt x="93054" y="0"/>
                  </a:lnTo>
                  <a:lnTo>
                    <a:pt x="93054" y="93054"/>
                  </a:lnTo>
                  <a:lnTo>
                    <a:pt x="0" y="9305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3054" cy="1502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5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016387" y="4246383"/>
            <a:ext cx="269271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9"/>
              </a:lnSpc>
            </a:pPr>
            <a:r>
              <a:rPr lang="en-US" sz="2100" spc="-63">
                <a:solidFill>
                  <a:srgbClr val="FFFFFF"/>
                </a:solidFill>
                <a:latin typeface="Nanum Square"/>
                <a:ea typeface="Nanum Square"/>
                <a:cs typeface="Nanum Square"/>
                <a:sym typeface="Nanum Square"/>
              </a:rPr>
              <a:t>3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13022163" y="4739046"/>
            <a:ext cx="644984" cy="423344"/>
          </a:xfrm>
          <a:custGeom>
            <a:avLst/>
            <a:gdLst/>
            <a:ahLst/>
            <a:cxnLst/>
            <a:rect r="r" b="b" t="t" l="l"/>
            <a:pathLst>
              <a:path h="423344" w="644984">
                <a:moveTo>
                  <a:pt x="0" y="0"/>
                </a:moveTo>
                <a:lnTo>
                  <a:pt x="644983" y="0"/>
                </a:lnTo>
                <a:lnTo>
                  <a:pt x="644983" y="423344"/>
                </a:lnTo>
                <a:lnTo>
                  <a:pt x="0" y="42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97197" y="2360511"/>
            <a:ext cx="13493605" cy="4817389"/>
          </a:xfrm>
          <a:custGeom>
            <a:avLst/>
            <a:gdLst/>
            <a:ahLst/>
            <a:cxnLst/>
            <a:rect r="r" b="b" t="t" l="l"/>
            <a:pathLst>
              <a:path h="4817389" w="13493605">
                <a:moveTo>
                  <a:pt x="0" y="0"/>
                </a:moveTo>
                <a:lnTo>
                  <a:pt x="13493606" y="0"/>
                </a:lnTo>
                <a:lnTo>
                  <a:pt x="13493606" y="4817390"/>
                </a:lnTo>
                <a:lnTo>
                  <a:pt x="0" y="48173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9" t="-17436" r="-1730" b="-275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04. 진행계획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30497" y="7492226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하반기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2355" y="8234463"/>
            <a:ext cx="6788994" cy="43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대외 IT/공공데이터 등 경진대회 및 공모전 진출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05. 팀원 R&amp;R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56315" y="3037513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프로젝트 총괄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EXAONE기반 도메인 맞춤 LLM파인튜닝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AWQ경량화 기법 적용</a:t>
            </a:r>
          </a:p>
        </p:txBody>
      </p:sp>
      <p:sp>
        <p:nvSpPr>
          <p:cNvPr name="AutoShape 6" id="6"/>
          <p:cNvSpPr/>
          <p:nvPr/>
        </p:nvSpPr>
        <p:spPr>
          <a:xfrm flipH="true">
            <a:off x="6056315" y="4672370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056315" y="2442030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TEAM LEADER : 엄윤상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1066" y="5929986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백엔드</a:t>
            </a: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API연동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VLLM 기반 고성능 모델 서빙 인프라 구축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기능 구현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2101066" y="7564843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2101066" y="5334503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MEMBERS : 장시우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9623" y="5925224"/>
            <a:ext cx="6175371" cy="13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프론트엔드</a:t>
            </a: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연동 및 통합 인터페이스 개발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시스템 통합 아키텍처 설계</a:t>
            </a:r>
          </a:p>
          <a:p>
            <a:pPr algn="just" marL="467443" indent="-233722" lvl="1">
              <a:lnSpc>
                <a:spcPts val="3615"/>
              </a:lnSpc>
              <a:buFont typeface="Arial"/>
              <a:buChar char="•"/>
            </a:pPr>
            <a:r>
              <a:rPr lang="en-US" sz="2165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디자인 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0779623" y="7560081"/>
            <a:ext cx="5424546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779623" y="5329740"/>
            <a:ext cx="3645001" cy="46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</a:pPr>
            <a:r>
              <a:rPr lang="en-US" b="true" sz="2525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MEMBERS : 이유정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677486" y="2533814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성능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4573" y="3416846"/>
            <a:ext cx="6628327" cy="21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LLM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기반 민원 분석 및 답변 생성 기능을 통해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민원 처리 과정에서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반복적으로 수행되는 사례 검색과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초안 작성 시간을 줄이고 민원 답변 초안 생성 시간을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평균 3분 이하 수준으로 단축하는 것을 목표로 함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33504" y="1119497"/>
            <a:ext cx="5847968" cy="6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9"/>
              </a:lnSpc>
            </a:pPr>
            <a:r>
              <a:rPr lang="en-US" sz="4999" spc="-349">
                <a:solidFill>
                  <a:srgbClr val="000000"/>
                </a:solidFill>
                <a:latin typeface="Nanum Square Light"/>
                <a:ea typeface="Nanum Square Light"/>
                <a:cs typeface="Nanum Square Light"/>
                <a:sym typeface="Nanum Square Light"/>
              </a:rPr>
              <a:t>06.  최종 예상  결과물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5801" y="2495714"/>
            <a:ext cx="3199882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신뢰성 및 보안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48108" y="3397796"/>
            <a:ext cx="6788994" cy="218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공공기관 민원 데이터의 특성을 고려하여 외부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인터넷 연결 없이 동작하는 on-premises AI 시스템으로 설계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이를 통해 민원 데이터가 외부 클라우드로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전송되지 않도록 하여 공공 데이터 유출 위험을 최소화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71691" y="6539650"/>
            <a:ext cx="6901877" cy="130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Docker 기반 컨테이너 구조로 시스템을 구성하여 폐쇄망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환경에서도 쉽게 배포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및 운영이 가능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하도록 설계 </a:t>
            </a: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77486" y="5675668"/>
            <a:ext cx="3626145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운영성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08637" y="6539650"/>
            <a:ext cx="6901877" cy="174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완성된 솔루션을 기반으로 하반기 공공데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이터 활용</a:t>
            </a: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IT공모전 </a:t>
            </a:r>
          </a:p>
          <a:p>
            <a:pPr algn="l">
              <a:lnSpc>
                <a:spcPts val="3453"/>
              </a:lnSpc>
            </a:pPr>
            <a:r>
              <a:rPr lang="en-US" sz="2199" spc="-43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진출 </a:t>
            </a:r>
          </a:p>
          <a:p>
            <a:pPr algn="l">
              <a:lnSpc>
                <a:spcPts val="3453"/>
              </a:lnSpc>
            </a:pPr>
          </a:p>
          <a:p>
            <a:pPr algn="l">
              <a:lnSpc>
                <a:spcPts val="345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314432" y="5675668"/>
            <a:ext cx="4590146" cy="58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866"/>
              </a:lnSpc>
              <a:buFont typeface="Arial"/>
              <a:buChar char="•"/>
            </a:pPr>
            <a:r>
              <a:rPr lang="en-US" sz="3099" spc="-6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대외 경진대회 출품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33504" y="8961840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233504" y="595622"/>
            <a:ext cx="1582099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01753" y="4353306"/>
            <a:ext cx="3084494" cy="790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88"/>
              </a:lnSpc>
            </a:pPr>
            <a:r>
              <a:rPr lang="en-US" b="true" sz="4800" spc="-144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감사합니다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97935" y="9114917"/>
            <a:ext cx="6216126" cy="53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800" spc="-19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Team. GovOn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DAHDt1XzOww</dc:identifier>
  <dcterms:modified xsi:type="dcterms:W3CDTF">2011-08-01T06:04:30Z</dcterms:modified>
  <cp:revision>1</cp:revision>
  <dc:title>On-Device AI 기반 공공 민원 자동 분류 및 분석 처리 시스템</dc:title>
</cp:coreProperties>
</file>